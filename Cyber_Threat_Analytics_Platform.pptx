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5029200" cy="5029200"/>
          </a:xfrm>
          <a:prstGeom prst="ellipse">
            <a:avLst/>
          </a:prstGeom>
          <a:solidFill>
            <a:srgbClr val="15294F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2926080" cy="2926080"/>
          </a:xfrm>
          <a:prstGeom prst="ellipse">
            <a:avLst/>
          </a:prstGeom>
          <a:solidFill>
            <a:srgbClr val="132A54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1529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REPORT  ·  DATA VISUALIZATION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Platform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Incident Visualization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25400">
            <a:solidFill>
              <a:srgbClr val="00C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Saileshbabu T S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7.0 — Data Visualization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Microsoft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Milestones, One Intelligence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Incidents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5270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20440" y="2221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Crime Types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270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00800" y="2221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Areas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5270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6.27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81160" y="2221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Reporting Delay (Days)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2930652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306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2880360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Threat Incidents Analytics &amp; Security Visualization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66560" y="2926080"/>
            <a:ext cx="0" cy="512064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880360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classification dashboard — incident volume by category, area, victim demographics, and case status.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8503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826764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267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08760" y="3776472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Geospatial Risk Analytics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766560" y="3822192"/>
            <a:ext cx="0" cy="512064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776472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incident hotspots across all 21 areas and benchmarks reporting-time performance city-by-city.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8114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4722876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228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4672584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Incident &amp; Incident Response Analytics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766560" y="4718304"/>
            <a:ext cx="0" cy="512064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4672584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monthly, and seasonal patterns paired with case-response and closure performance.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5618988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6189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508760" y="5568696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 &amp; Predictive Executive Analytics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766560" y="5614416"/>
            <a:ext cx="0" cy="512064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5568696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Risk-scoring and forward-looking predictive views for analysts and executive leadership.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Threat Incidents Analytics &amp; Security Visualization Framework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foundational incident-analytics dashboard for the Cyber Threat Analytics Platform — consolidating raw crime and incident records into a single classification view for exploring volume by category, geographic area, victim demographics, and case status.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ID · Type · Area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Fields Modelled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292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1292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Year–Month–Day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40436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Hierarchy Built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7720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7720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Groups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16864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Age Buckets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Threat Incidents Analytics &amp; Security Visualization Framework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21248" y="1179576"/>
            <a:ext cx="8919023" cy="5184648"/>
          </a:xfrm>
          <a:prstGeom prst="roundRect">
            <a:avLst>
              <a:gd name="adj" fmla="val 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e6facd5fa721956198ae7167164592135884b0a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112" y="1234440"/>
            <a:ext cx="8809295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Milestone 1 Dashboard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KEY INSIGHTS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Threat Incidents Analytics &amp; Security Visualization Framework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0515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theft (Vehicle – Stolen) leads all incident categories, followed by Battery – Simple Assault and Vandalism – Felony.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gender split is close to even: Male 49.0% (118K), Female 41.46% (100K), Others 9.54% (23K).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form the largest victim age group (32.18% / 89K), followed by Child (26.94% / 75K) and Young Adult (22% / 62K); Seniors are the smallest (18.53% / 51K).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Wilshire, West Valley, West LA, Van Nuys, and Topanga are the Top 5 high-crime areas by incident count.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shows sustained high volume from January–May, followed by a sharp decline from June onward.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status reveals a significant backlog: 79.84% (220.84K) remain 'Under Investigation', while only 9.34% (25.83K) are 'Solved'.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BUSINESS 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Threat Incidents Analytics &amp; Security Visualization Framework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92608" cy="29260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051560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patrol and prevention resources toward the Top 5 high-crime areas: Wilshire, West Valley, West LA, Van Nuys, Topanga.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low case-closure rate (~9%) and strengthen the investigation-to-resolution workflow to reduce the backlog.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prevention programs for vehicle theft and assault-related categories, since these dominate incident volume.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staffing and monitoring schedules with the January–May peak period observed in the monthly trend.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Geospatial Risk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initial classification view into full-scale geospatial threat intelligence — mapping incident hotspots across all 21 covered areas, benchmarking reporting-time performance city-by-city, and identifying the highest-risk zones for security planning.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6.27 days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Reporting Delay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292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1292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58.91%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40436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Critical-Severity Share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7720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7720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16864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Riskiest Cities Flagged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Risk Analytics — Main View &amp; City Drill-Through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93776" y="2163053"/>
            <a:ext cx="5504688" cy="3217694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27dd47f74f499735bea8a3982693aab924caef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7917"/>
            <a:ext cx="5394960" cy="3107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82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Main View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63056" y="2163053"/>
            <a:ext cx="5504688" cy="3217694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a098f86334c2ecc102c2a8f06c51f11fe6723d3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17917"/>
            <a:ext cx="5394960" cy="3107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6382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City Drill-Through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KEY INSIGHTS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Geospatial Risk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21 cities, the platform tracks 277,000 total incidents with an overall average reporting delay of 6.27 days.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Critical-severity incidents (163K, 58.91%) outnumber Medium-severity incidents (114K, 41.09%) — the majority skew high-severity rather than a typical low-to-high pyramid.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Pacific, Southwest, Southeast, Olympic, and West LA emerge as the Top 5 riskiest cities by total incident volume.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77th Street has the highest incident count (18,346) with a below-average reporting delay (4.53 days); Devonshire has fewer incidents (10,753) but the longest delay (7.99 days) — reporting speed doesn't track with volume.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Details drill-through (Central) shows 16K incidents with 9K (56%) classified Critical — risk concentration varies significantly by area.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TOOLTIP &amp; 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Geospatial Risk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572000" cy="4709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QUICK-GLANCE TOOLTIP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surfaces key city metrics on hover — incident count, severity mix, and reporting delay — for fast operational triage without leaving the main map view.</a:t>
            </a:r>
            <a:endParaRPr lang="en-US" sz="1200" dirty="0"/>
          </a:p>
        </p:txBody>
      </p:sp>
      <p:pic>
        <p:nvPicPr>
          <p:cNvPr id="10" name="Image 0" descr="41a88bdb0af4d007b22a48606e510300152cbb4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63240"/>
            <a:ext cx="3840480" cy="21961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5396545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Quick-Glance Tooltip Summary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94960" y="1554480"/>
            <a:ext cx="6217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23560" y="1783080"/>
            <a:ext cx="292608" cy="29260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4" name="Text 11"/>
          <p:cNvSpPr/>
          <p:nvPr/>
        </p:nvSpPr>
        <p:spPr>
          <a:xfrm>
            <a:off x="6053328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0" y="2212848"/>
            <a:ext cx="5669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Devonshire's longer reporting delay (7.99 days) despite lower incident volume — a possible resourcing or process gap.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additional geospatial-based patrol resources toward the Top 10 Risk Cities on the hotspot map.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reporting-time targets across areas, since current delays vary widely without a clear link to volume.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area commanders to use the City Details drill-through as a self-service view for their zone's performance.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Incident &amp; Incident Response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incident data through the time dimension — daily, weekly, monthly, and seasonal patterns — and evaluates case-response and closure performance to support staffing decisions and surface operational efficiency gaps.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Peak Incidents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292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1292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 / day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40436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Daily Baseline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7720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7720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79.84%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16864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Continued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Analytics &amp; Incident Response Analytics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93776" y="2163053"/>
            <a:ext cx="5504688" cy="3217694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57b153d7ea0743e4b9330bb8b3915ad0825d11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7917"/>
            <a:ext cx="5394960" cy="3107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82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— Temporal Incident Analytics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63056" y="2163053"/>
            <a:ext cx="5504688" cy="3217694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cb67932b5a169a799f5fd7ac14a4fa834380b65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17917"/>
            <a:ext cx="5394960" cy="3107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6382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 — Incident Response Analytics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INSIGHTS &amp; 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Incident &amp; Incident Response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is the peak season for incidents (~90K), nearly double Autumn, the lowest season (~40K) — a clear seasonal pattern for staffing plans.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 holds a steady baseline of ~500 incidents/day with occasional spikes, and a visible decline toward the end of the window (Apr 2021) to validate against data completeness.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Case-handling mirrors Milestone 1: ~79.84% remain 'Investigation Continued'; arrests account for only a small fraction of outcomes.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theft and vandalism dominate the Emerging Threat Pattern view, consistent with earlier milestones.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Critical-severity cases (~163K) exceed Medium-severity (~114K), reinforcing the severity skew seen in Milestone 2.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783080"/>
            <a:ext cx="292608" cy="29260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76288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212848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staffing to align with the Spring peak and scale down monitoring during the lower-volume Autumn season.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low arrest/closure rate, review investigative capacity and case-management workflow.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declining end-of-window trend in the next refresh to confirm a genuine drop vs. incomplete data.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resource allocation against the geospatial hotspots identified in Milestone 2.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Assessment, Predictive Intelligence &amp; Executive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the platform into risk-scoring and forward-looking predictive views — giving analysts and executives a unified perspective on current risk exposure and forecasted risk trends across all 21 covered locations.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79.45 / 100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Score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292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1292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58.91%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40436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Risk Probability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77200" y="3154680"/>
            <a:ext cx="353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77200" y="3264408"/>
            <a:ext cx="35356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168640" y="3913632"/>
            <a:ext cx="335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Covered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 &amp; Predictive Executive Intelligence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93776" y="2163053"/>
            <a:ext cx="5504688" cy="3217694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e7178877f4ed1874ed9b487b3c2dc291e6eb16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7917"/>
            <a:ext cx="5394960" cy="3107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82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 — Security Risk Assessment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63056" y="2163053"/>
            <a:ext cx="5504688" cy="3217694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750135fb92a84cbe53e4248a7abad06fcf7d049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17917"/>
            <a:ext cx="5394960" cy="3107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6382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 — Predictive &amp; Executive Intelligence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KEY INSIGHTS &amp; PREDICTIVE FINDINGS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Assessment, Predictive Intelligence &amp; Executive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PREDICTIVE FINDINGS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0515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Exposure Level Analysis confirms High-risk incidents (163K) outnumber Medium-risk incidents (114K), consistent with earlier milestones.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Threat Risk Model returns a score of 79.45 / 100, indicating an elevated overall risk posture across covered areas.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Risk Probability is calculated at 58.91% — a majority likelihood of continued high-severity incident occurrence.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77th Street, Pacific, and Central consistently rank among the Potential High-Risk Zones, matching Milestone 2's Top Risk Cities.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 Allocation Gap Analysis scatter plot highlights areas combining high incident volume and above-average reporting delay — the highest-priority gap areas.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Emerging Risk Forecast (Jan 2020–Apr 2021) stays range-bound with a sharp dip at the very end of the window, to be monitored for a genuine easing vs. data-completeness artifact.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STRATEGY 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Assessment, Predictive Intelligence &amp; Executive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92608" cy="29260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RECOMMENDATIONS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051560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additional patrol and investigation resources toward the confirmed persistent high-risk zones — 77th Street, Pacific, and Central.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Predictive Threat Risk Model score as a recurring monthly KPI to detect early shifts in overall risk trend.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resource-allocation gap identified in the scatter analysis by adjusting staffing in areas with both high volume and long reporting delay.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B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Milestone 3's case-closure improvements with the risk-scoring model, since persistently low closure rates likely inflate the standing risk score.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 |  Infosys Springboard 7.0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1529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572000"/>
            <a:ext cx="3657600" cy="3657600"/>
          </a:xfrm>
          <a:prstGeom prst="ellipse">
            <a:avLst/>
          </a:prstGeom>
          <a:solidFill>
            <a:srgbClr val="132A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Incident-Intelligence Pipeline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8778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four milestones form a complete incident-intelligence pipeline — from initial classification and geospatial mapping, through temporal and response analysis, to risk assessment and predictive forecasting. This layered design lets stakeholders, from area-level analysts to executive leadership, work from the same underlying incident data at the level of detail relevant to their role.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5294F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98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8280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18688" y="4617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0440" y="4389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5294F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498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48280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Mapping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16168" y="4617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4389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5294F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498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48280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13648" y="4617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15400" y="4389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5294F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4498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48280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Prediction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Saileshbabu T S   </a:t>
            </a:r>
            <a:pPr indent="0" marL="0">
              <a:buNone/>
            </a:pPr>
            <a:r>
              <a:rPr lang="en-US" sz="11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Infosys Springboard Internship 7.0 — Data Visualization  |  Microsoft Power BI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2026-08-21T03:24:28Z</dcterms:created>
  <dcterms:modified xsi:type="dcterms:W3CDTF">2026-08-21T03:24:28Z</dcterms:modified>
</cp:coreProperties>
</file>